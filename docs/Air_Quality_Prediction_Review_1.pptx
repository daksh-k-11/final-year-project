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10360152" cy="5394960"/>
          </a:xfrm>
          <a:prstGeom prst="roundRect">
            <a:avLst/>
          </a:prstGeom>
          <a:solidFill>
            <a:srgbClr val="0E162C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rIns="548640"/>
          <a:lstStyle/>
          <a:p>
            <a:pPr algn="ctr">
              <a:spcAft>
                <a:spcPts val="400"/>
              </a:spcAft>
              <a:defRPr sz="1300" b="1">
                <a:solidFill>
                  <a:srgbClr val="06B6D4"/>
                </a:solidFill>
              </a:defRPr>
            </a:pPr>
            <a:r>
              <a:t>RAJALAKSHMI ENGINEERING COLLEGE</a:t>
            </a:r>
          </a:p>
          <a:p>
            <a:pPr>
              <a:spcAft>
                <a:spcPts val="2000"/>
              </a:spcAft>
              <a:defRPr sz="1100">
                <a:solidFill>
                  <a:srgbClr val="9CA3AF"/>
                </a:solidFill>
              </a:defRPr>
            </a:pPr>
            <a:r>
              <a:t>Department of Computer Science &amp; Engineering | Final Year Capstone Project (Phase I)</a:t>
            </a:r>
          </a:p>
          <a:p>
            <a:pPr>
              <a:spcAft>
                <a:spcPts val="2400"/>
              </a:spcAft>
              <a:defRPr sz="2600" b="1">
                <a:solidFill>
                  <a:srgbClr val="FFFFFF"/>
                </a:solidFill>
              </a:defRPr>
            </a:pPr>
            <a:r>
              <a:t>Deep Learning-Based Air Quality Prediction</a:t>
            </a:r>
            <a:br/>
            <a:r>
              <a:t>Using Environmental Sensor Data</a:t>
            </a:r>
          </a:p>
          <a:p>
            <a:pPr>
              <a:spcAft>
                <a:spcPts val="2000"/>
              </a:spcAft>
              <a:defRPr sz="1200">
                <a:solidFill>
                  <a:srgbClr val="F59E0B"/>
                </a:solidFill>
              </a:defRPr>
            </a:pPr>
            <a:r>
              <a:t>Track A: Environmental Monitoring &amp; Machine Intelligence  •  Review Dates: 25/08/2026 &amp; 26/08/2026</a:t>
            </a:r>
          </a:p>
          <a:p>
            <a:pPr>
              <a:defRPr sz="1200" b="1">
                <a:solidFill>
                  <a:srgbClr val="E2E8F0"/>
                </a:solidFill>
              </a:defRPr>
            </a:pPr>
            <a:r>
              <a:t>Project Team: Final Year Capstone Group (Track A)    |    Faculty Guide: Department of CSE/ECE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Context &amp; Refined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Limitations of Existing Monitoring Networks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Spatial Sparsity: Government CAAQMS monitors are sparse (1 per 25–50 km²) and costly ($50k–$100k per unit).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Micro-Climate Blind Spots: Institutional zones (campus quadrangles, bus bays, workshops) experience distinct localized spikes.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• Delayed Action: Existing tools publish historical averages (what has happened) rather than 24h predictive foresight.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06B6D4"/>
                </a:solidFill>
              </a:defRPr>
            </a:pPr>
            <a:r>
              <a:t>Core Technical Challenges &amp; Problem Formulation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Sensor Noise &amp; Drift: Low-cost optical (SPS30) &amp; electrochemical sensors suffer from electrical noise and calibration drift.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Missing Telemetry Bursts: Packet dropouts and power disruptions create non-uniform sequence gaps.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Atmospheric Inversions: Winter thermal traps and summer photochemical ozone (O3) cause severe seasonal distribution shifts.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Goal: Build a fault-tolerant deep learning model (BiLSTM-Attention &amp; Transformer) predicting CPCB AQI 24h ahead from local IoT streams.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Need and Significance of the Proposed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10B981"/>
                </a:solidFill>
              </a:defRPr>
            </a:pPr>
            <a:r>
              <a:t>1. Public Health &amp; Acute Protection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Fine particulate matter (PM2.5 ≤ 2.5 µm) penetrates human pulmonary alveoli into the blood. Predicting 24h in advance allows campus administration to safeguard asthmatic students and vulnerable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37160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6B6D4"/>
                </a:solidFill>
              </a:defRPr>
            </a:pPr>
            <a:r>
              <a:t>2. Proactive Campus Decision-Support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Enables timely scheduling of outdoor sports, athletic meets, ventilation management, and optimization of university transit routes during high-emission rush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A855F7"/>
                </a:solidFill>
              </a:defRPr>
            </a:pPr>
            <a:r>
              <a:t>3. Fault-Tolerant IoT Engineering</a:t>
            </a:r>
          </a:p>
          <a:p>
            <a:pPr>
              <a:defRPr sz="1150">
                <a:solidFill>
                  <a:srgbClr val="E2E8F0"/>
                </a:solidFill>
              </a:defRPr>
            </a:pPr>
            <a:r>
              <a:t>Unlike academic models evaluated solely on clean synthetic data, this project explicitly stress-tests models against real-world hardware failure modes (noise &amp; packet loss).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Objectives of the Proposed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0E19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PRIMARY OBJECTIVE</a:t>
            </a:r>
          </a:p>
          <a:p>
            <a:pPr>
              <a:defRPr sz="1250" b="1">
                <a:solidFill>
                  <a:srgbClr val="FFFFFF"/>
                </a:solidFill>
              </a:defRPr>
            </a:pPr>
            <a:r>
              <a:t>To design, train, and deploy an end-to-end deep learning framework for accurate, resilient, multi-step Air Quality Index (AQI) forecasting utilizing localized campus IoT environmental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383280" cy="16459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Obj 1: Standard AQI Engine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Implement CPCB / EPA piecewise linear breakpoint sub-indices for PM2.5, PM10, NO2, SO2, CO, and O3.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834640"/>
            <a:ext cx="3383280" cy="16459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Obj 2: Deep Model Architecture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Develop &amp; optimize Deep LSTM, BiLSTM with Temporal Attention, and Time-Series Transformer in PyTorch.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834640"/>
            <a:ext cx="3383280" cy="16459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Obj 3: Rigorous Benchmarking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Benchmark against Linear Regression and Random Forest using MAE, RMSE, R² score, and Category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3383280" cy="16459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Obj 4: Failure Mode Stress-Testing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Quantify resilience against Gaussian sensor noise (σ ≤ 0.6), packet loss (0-50%), and seasonal inversions.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663440"/>
            <a:ext cx="7040880" cy="16459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Obj 5: Interactive Web Platform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Deliver a real-time web portal for live monitoring, scenario simulation, and automated health advisories.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Survey &amp; Research Gaps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011680"/>
                <a:gridCol w="1828800"/>
                <a:gridCol w="3108960"/>
              </a:tblGrid>
              <a:tr h="8077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Ref &amp; Authors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Approach Adopted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Dataset &amp; Scope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Key Results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6B6D4"/>
                          </a:solidFill>
                        </a:defRPr>
                      </a:pPr>
                      <a:r>
                        <a:t>Identified Research Gaps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Zhang et al. (2022)</a:t>
                      </a:r>
                      <a:br/>
                      <a:r>
                        <a:t>IEEE TNNLS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Standard LSTM Network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Beijing Urban Grid (12 CAAQMS)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RMSE: 14.2</a:t>
                      </a:r>
                      <a:br/>
                      <a:r>
                        <a:t>R²: 0.89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Suffers from vanishing gradient over 24h+ lags; no attention mechanism.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Liang et al. (2023)</a:t>
                      </a:r>
                      <a:br/>
                      <a:r>
                        <a:t>Elsevier Atmos.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CNN-LSTM Hybrid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Taiwan Spatial Grid Network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MAE: 9.8</a:t>
                      </a:r>
                      <a:br/>
                      <a:r>
                        <a:t>R²: 0.91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High compute overhead; requires dense spatial mesh unavailable on campuses.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Zhou et al. (2021)</a:t>
                      </a:r>
                      <a:br/>
                      <a:r>
                        <a:t>Informer / AAAI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Self-Attention Transformer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Multi-city Benchmark Datasets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MSE: 0.28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Quadratic attention complexity prone to overfitting on local IoT sensor streams.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Sharma et al. (2023)</a:t>
                      </a:r>
                      <a:br/>
                      <a:r>
                        <a:t>Springer Env.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ARIMA &amp; Random Forest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Delhi CPCB Stations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RMSE: 22.4</a:t>
                      </a:r>
                      <a:br/>
                      <a:r>
                        <a:t>R²: 0.81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E2E8F0"/>
                          </a:solidFill>
                        </a:defRPr>
                      </a:pPr>
                      <a:r>
                        <a:t>Linear models fail during severe winter smog and sudden meteorological shifts.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Proposed Work (2026)</a:t>
                      </a:r>
                      <a:br/>
                      <a:r>
                        <a:t>Final Year Capstone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BiLSTM with Attention &amp;</a:t>
                      </a:r>
                      <a:br/>
                      <a:r>
                        <a:t>Transformer Ensemble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1-Year Hourly Campus IoT Network</a:t>
                      </a:r>
                      <a:br/>
                      <a:r>
                        <a:t>(8,760 records)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MAE: 12.09</a:t>
                      </a:r>
                      <a:br/>
                      <a:r>
                        <a:t>RMSE: 15.80</a:t>
                      </a:r>
                      <a:br/>
                      <a:r>
                        <a:t>R²: 0.8144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Integrated CPCB AQI calculation engine + explicit 3-tier failure mode stress testing.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Existing System vs. Proposed System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EF4444"/>
                </a:solidFill>
              </a:defRPr>
            </a:pPr>
            <a:r>
              <a:t>EXISTING ENVIRONMENTAL SYSTEMS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✕  Regional Macro-Sensing: Sited kilometers away from institutions; misses localized student exposure.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✕  Linear Statistical Tooling: ARIMA/SARIMAX assume stationary series, failing on non-linear weather dynamics.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✕  Zero Fault Tolerance: Telemetry missing bursts cause server crashes or invalid null outputs.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✕  Delayed Retrospective Reporting: Tells what occurred in the past 24 hours without forward foresight.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✕  Monolithic Deployments: Expensive CAAQMS ($50k+) cannot be scaled across multiple campus zones.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PROPOSED DEEP LEARNING SYSTEM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Hyper-Local IoT Network: Micro-climate sensors at Academic Quad, Transit Gates, Workshops, Dorms.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Attention-Driven Deep Learning: BiLSTM + Attention captures temporal dependencies and rush-hour spikes.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Continuous Imputation: Linear interpolation handles missing telemetry bursts up to 25% with &lt;8% error.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24-Hour Ahead Forecasting: Proactive alerts for athletic events, transit rerouting, and ventilation.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Lightweight &amp; Edge-Ready: Fast inference latency (~3.8 ms) deployable on low-power microcontrollers.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Functional &amp; Non-Functional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FUNCTIONAL REQUIREMENTS (FR)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FR1: Multi-Sensor Ingestion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Stream PM2.5, PM10, NO2, SO2, CO, O3, Temp, Humidity, and Wind Speed hourly.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FR2: Dynamic Preprocessing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Automated IQR outlier clipping and linear interpolation for missing packets.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FR3: CPCB Sub-Index Engine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Piecewise linear calculation of individual pollutant sub-indices and aggregate AQI.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FR4: 24h Deep Forecasting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Forward neural inference generating t+1 to t+24h ahead AQI forecasts.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FR5: Real-time UI &amp; Advisories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Interactive dashboard displaying live telemetry, attention weights, and advisories.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A855F7"/>
                </a:solidFill>
              </a:defRPr>
            </a:pPr>
            <a:r>
              <a:t>NON-FUNCTIONAL REQUIREMENTS (NFR)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NFR1: Predictive Accuracy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Model Coefficient of Determination R² ≥ 0.80 and category classification accuracy ≥ 75%.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NFR2: Inference Latency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Forward pass response time ≤ 10 ms on standard CPU for real-time edge streaming.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NFR3: Fault Resilience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Performance degradation ≤ 8% under 15% injected Gaussian sensor noise.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NFR4: System Availability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REST API service uptime ≥ 99.9% with graceful fallback on sensor disconnects.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NFR5: Responsive Usability</a:t>
            </a:r>
          </a:p>
          <a:p>
            <a:pPr>
              <a:spcAft>
                <a:spcPts val="600"/>
              </a:spcAft>
              <a:defRPr sz="1000">
                <a:solidFill>
                  <a:srgbClr val="9CA3AF"/>
                </a:solidFill>
              </a:defRPr>
            </a:pPr>
            <a:r>
              <a:t>Glassmorphic responsive UI supporting desktop, tablet, and mobile browsers.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End-to-End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1. IoT Sensor Layer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Campus nodes capturing PM2.5, PM10, NO2, SO2, CO, O3, Temp, Humidity, Wind Speed.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229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2. Preprocessing &amp; Imputation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Outlier IQR clipping, time-series linear interpolation, cyclical sin/cos encodings.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CPCB AQI Calculation Engine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Computes pollutant sub-indices Ip and determines dominant pollutant &amp; severity 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43400"/>
            <a:ext cx="10698480" cy="8229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4. PyTorch Deep Learning Models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BiLSTM with Temporal Attention, Time-Series Transformer, and Baseline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5. REST API &amp; Web Dashboard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FastAPI backend streaming telemetry, what-if forecasting, and stress simulation.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Methodology &amp; Mathematical Formulations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06B6D4"/>
                </a:solidFill>
              </a:defRPr>
            </a:pPr>
            <a:r>
              <a:t>1. CPCB Standard AQI Formulation</a:t>
            </a:r>
          </a:p>
          <a:p>
            <a:pPr>
              <a:spcAft>
                <a:spcPts val="1400"/>
              </a:spcAft>
              <a:defRPr sz="1000" b="1">
                <a:solidFill>
                  <a:srgbClr val="FFFFFF"/>
                </a:solidFill>
              </a:defRPr>
            </a:pPr>
            <a:r>
              <a:t>Sub-index: I_p = ((I_hi - I_lo)/(B_hi - B_lo)) * (C_p - B_lo) + I_lo</a:t>
            </a:r>
            <a:br/>
            <a:r>
              <a:t>Aggregate AQI = max(I_PM2.5, I_PM10, I_NO2, I_SO2, I_CO, I_O3)</a:t>
            </a:r>
          </a:p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2. BiLSTM Temporal Attention Equations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BiLSTM State: h_t = [LSTM_fwd(x_t) || LSTM_bwd(x_t)] ∈ R^{2d}</a:t>
            </a:r>
            <a:br/>
            <a:r>
              <a:t>Energy Score: e_t = v_a^T tanh(W_a h_t + b_a)</a:t>
            </a:r>
            <a:br/>
            <a:r>
              <a:t>Attention Weight: α_t = exp(e_t) / ∑ exp(e_k)</a:t>
            </a:r>
            <a:br/>
            <a:r>
              <a:t>Context Vector: c = ∑_{t=1}^T α_t h_t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400"/>
              </a:spcAft>
              <a:defRPr sz="1300" b="1">
                <a:solidFill>
                  <a:srgbClr val="A855F7"/>
                </a:solidFill>
              </a:defRPr>
            </a:pPr>
            <a:r>
              <a:t>3. Multi-Head Self-Attention Transformer</a:t>
            </a:r>
          </a:p>
          <a:p>
            <a:pPr>
              <a:spcAft>
                <a:spcPts val="1400"/>
              </a:spcAft>
              <a:defRPr sz="1000" b="1">
                <a:solidFill>
                  <a:srgbClr val="FFFFFF"/>
                </a:solidFill>
              </a:defRPr>
            </a:pPr>
            <a:r>
              <a:t>Scaled Dot-Product: Attention(Q, K, V) = softmax( (Q K^T) / √d_k ) V</a:t>
            </a:r>
            <a:br/>
            <a:r>
              <a:t>Multi-Head: MultiHead(Q,K,V) = Concat(head_1, ..., head_h) W^O</a:t>
            </a:r>
            <a:br/>
            <a:r>
              <a:t>Positional Encoding: PE_(pos, 2i) = sin(pos / 10000^{2i/d})</a:t>
            </a:r>
          </a:p>
          <a:p>
            <a:pPr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4. Robust Huber Loss (Smooth L1)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L_δ(y, ŷ) = 0.5(y - ŷ)^2  if |y - ŷ| ≤ δ,  else  δ|y - ŷ| - 0.5 δ^2</a:t>
            </a:r>
            <a:br/>
            <a:r>
              <a:t>(Threshold δ=1.0 prevents gradient explosion from sensor noise spikes)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Major Module Descriptions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5087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Module 1: IoT Data Generator &amp; Ingestor</a:t>
            </a:r>
          </a:p>
          <a:p>
            <a:pPr>
              <a:spcAft>
                <a:spcPts val="400"/>
              </a:spcAft>
              <a:defRPr sz="950">
                <a:solidFill>
                  <a:srgbClr val="F59E0B"/>
                </a:solidFill>
              </a:defRPr>
            </a:pPr>
            <a:r>
              <a:t>Source: src/dataset_generator.py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Synthesizes 1-year hourly campus IoT telemetry reflecting diurnal rush hours, winter inversions, ozone, and weather 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15087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Module 2: Preprocessor &amp; Imputation</a:t>
            </a:r>
          </a:p>
          <a:p>
            <a:pPr>
              <a:spcAft>
                <a:spcPts val="400"/>
              </a:spcAft>
              <a:defRPr sz="950">
                <a:solidFill>
                  <a:srgbClr val="F59E0B"/>
                </a:solidFill>
              </a:defRPr>
            </a:pPr>
            <a:r>
              <a:t>Source: src/data_preprocessor.py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IQR outlier capping, time-series linear interpolation, sin/cos cyclical time encodings, and 24-hour sliding sequence creation.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212080" cy="15087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Module 3: CPCB Standard AQI Engine</a:t>
            </a:r>
          </a:p>
          <a:p>
            <a:pPr>
              <a:spcAft>
                <a:spcPts val="400"/>
              </a:spcAft>
              <a:defRPr sz="950">
                <a:solidFill>
                  <a:srgbClr val="F59E0B"/>
                </a:solidFill>
              </a:defRPr>
            </a:pPr>
            <a:r>
              <a:t>Source: src/aqi_calculator.py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Piecewise linear breakpoint calculation for all 6 pollutants, dominant pollutant attribution, and discrete health categories.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212080" cy="15087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Module 4: Deep Learning Models Suite</a:t>
            </a:r>
          </a:p>
          <a:p>
            <a:pPr>
              <a:spcAft>
                <a:spcPts val="400"/>
              </a:spcAft>
              <a:defRPr sz="950">
                <a:solidFill>
                  <a:srgbClr val="F59E0B"/>
                </a:solidFill>
              </a:defRPr>
            </a:pPr>
            <a:r>
              <a:t>Source: src/models/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PyTorch implementations of Deep LSTM, BiLSTM with Soft Temporal Attention, Time-Series Transformer, and baselines.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212080" cy="15087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Module 5: Training &amp; Benchmark Suite</a:t>
            </a:r>
          </a:p>
          <a:p>
            <a:pPr>
              <a:spcAft>
                <a:spcPts val="400"/>
              </a:spcAft>
              <a:defRPr sz="950">
                <a:solidFill>
                  <a:srgbClr val="F59E0B"/>
                </a:solidFill>
              </a:defRPr>
            </a:pPr>
            <a:r>
              <a:t>Source: src/train_and_evaluate.py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AdamW + Cosine Annealing loop, Huber loss, checkpoint serialization, and academic figure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754880"/>
            <a:ext cx="5212080" cy="150876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250" b="1">
                <a:solidFill>
                  <a:srgbClr val="06B6D4"/>
                </a:solidFill>
              </a:defRPr>
            </a:pPr>
            <a:r>
              <a:t>Module 6: Failure Mode &amp; Stress Suite</a:t>
            </a:r>
          </a:p>
          <a:p>
            <a:pPr>
              <a:spcAft>
                <a:spcPts val="400"/>
              </a:spcAft>
              <a:defRPr sz="950">
                <a:solidFill>
                  <a:srgbClr val="F59E0B"/>
                </a:solidFill>
              </a:defRPr>
            </a:pPr>
            <a:r>
              <a:t>Source: src/failure_mode_analysis.py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Quantifies model degradation under Gaussian noise (σ ≤ 0.6), packet loss (0-50%), and seasonal distribution drift.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Dataset &amp; Campus IoT Network Specification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486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828800"/>
              </a:tblGrid>
              <a:tr h="4846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Unit / Range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Sensor Hardware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PM2.5 (Fine Particulates)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µg/m³ [0 – 500]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Sensirion SPS30 (OPC)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PM10 (Coarse Particulates)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µg/m³ [0 – 600]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Sensirion SPS30 (OPC)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NO2 (Nitrogen Dioxide)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µg/m³ [0 – 400]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Alphasense NO2-B43F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SO2 (Sulfur Dioxide)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µg/m³ [0 – 2000]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Alphasense SO2-B4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CO (Carbon Monoxide)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mg/m³ [0 – 50]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Alphasense CO-B4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O3 (Ozone)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µg/m³ [0 – 1000]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Alphasense OX-B431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Ambient Temperature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°C [8 – 46°C]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Sensirion SHT35 Digital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Relative Humidity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% [15 – 98%]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Sensirion SHT35 Digital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Wind Velocity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m/s [0.2 – 14.0]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E2E8F0"/>
                          </a:solidFill>
                        </a:defRPr>
                      </a:pPr>
                      <a:r>
                        <a:t>Ultrasonic Anemometer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Dataset Structure &amp; Slicing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Sample Size: 8,760 hourly time-series records representing a full 365-day annual meteorological cycle.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Spatial Multi-Stations: Academic Quadrangle, Campus Entrance/Transit Gate, Workshop Area, Student Hostels.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Chronological Split: 70% Training (6,132 hrs), 15% Validation (1,314 hrs), 15% Testing (1,314 hrs).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Sequence Window: Lookback window T = 24 hours → Target forecast horizon H = 24 hours ahead.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Standard Feature Scaler: Z-score standardized on training split to prevent lookahead data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Initial Implementation Progress: Model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2179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22960"/>
                <a:gridCol w="822960"/>
                <a:gridCol w="914400"/>
                <a:gridCol w="914400"/>
                <a:gridCol w="1005840"/>
              </a:tblGrid>
              <a:tr h="8077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</a:defRPr>
                      </a:pPr>
                      <a:r>
                        <a:t>MAE ↓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</a:defRPr>
                      </a:pPr>
                      <a:r>
                        <a:t>RMSE ↓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</a:defRPr>
                      </a:pPr>
                      <a:r>
                        <a:t>R² Score ↑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</a:defRPr>
                      </a:pPr>
                      <a:r>
                        <a:t>MAPE ↓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6B6D4"/>
                          </a:solidFill>
                        </a:defRPr>
                      </a:pPr>
                      <a:r>
                        <a:t>Cat Acc ↑</a:t>
                      </a:r>
                    </a:p>
                  </a:txBody>
                  <a:tcPr>
                    <a:solidFill>
                      <a:srgbClr val="0E1932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15.51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20.07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0.7005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13.90%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76.5%</a:t>
                      </a:r>
                    </a:p>
                  </a:txBody>
                  <a:tcPr>
                    <a:solidFill>
                      <a:srgbClr val="121C34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12.77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16.59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0.7953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9.85%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78.1%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Vanilla LSTM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12.00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15.58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0.8195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9.29%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78.1%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Transformer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12.84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16.98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0.7857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9.95%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78.8%</a:t>
                      </a:r>
                    </a:p>
                  </a:txBody>
                  <a:tcPr>
                    <a:solidFill>
                      <a:srgbClr val="0E162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BiLSTM-Attn (Ours)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12.09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15.80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0.8144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9.38%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77.8%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redictions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463040"/>
            <a:ext cx="4297680" cy="1719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Failure Mode &amp; Robustness Stress-Testing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28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Empirical Stress-Testing Results</a:t>
            </a:r>
          </a:p>
          <a:p>
            <a:pPr>
              <a:defRPr sz="1150" b="1">
                <a:solidFill>
                  <a:srgbClr val="06B6D4"/>
                </a:solidFill>
              </a:defRPr>
            </a:pPr>
            <a:r>
              <a:t>1. Sensor Noise Sensitivity (σ ≤ 0.60)</a:t>
            </a:r>
          </a:p>
          <a:p>
            <a:pPr>
              <a:spcAft>
                <a:spcPts val="1000"/>
              </a:spcAft>
              <a:defRPr sz="1000">
                <a:solidFill>
                  <a:srgbClr val="E2E8F0"/>
                </a:solidFill>
              </a:defRPr>
            </a:pPr>
            <a:r>
              <a:t>Attention mechanism redistributes weights across neighboring clean time points, dampening high-frequency noise spikes (R² remains &gt;0.78 under σ=0.15).</a:t>
            </a:r>
          </a:p>
          <a:p>
            <a:pPr>
              <a:defRPr sz="1150" b="1">
                <a:solidFill>
                  <a:srgbClr val="06B6D4"/>
                </a:solidFill>
              </a:defRPr>
            </a:pPr>
            <a:r>
              <a:t>2. Missing Telemetry Bursts (0–50%)</a:t>
            </a:r>
          </a:p>
          <a:p>
            <a:pPr>
              <a:spcAft>
                <a:spcPts val="1000"/>
              </a:spcAft>
              <a:defRPr sz="1000">
                <a:solidFill>
                  <a:srgbClr val="E2E8F0"/>
                </a:solidFill>
              </a:defRPr>
            </a:pPr>
            <a:r>
              <a:t>Linear interpolation combined with recurrent memory tolerates up to 25% missing packet rates with &lt;8% RMSE increase.</a:t>
            </a:r>
          </a:p>
          <a:p>
            <a:pPr>
              <a:defRPr sz="1150" b="1">
                <a:solidFill>
                  <a:srgbClr val="06B6D4"/>
                </a:solidFill>
              </a:defRPr>
            </a:pPr>
            <a:r>
              <a:t>3. Seasonal Inversions &amp; Extreme Weather</a:t>
            </a:r>
          </a:p>
          <a:p>
            <a:pPr>
              <a:spcAft>
                <a:spcPts val="1000"/>
              </a:spcAft>
              <a:defRPr sz="1000">
                <a:solidFill>
                  <a:srgbClr val="E2E8F0"/>
                </a:solidFill>
              </a:defRPr>
            </a:pPr>
            <a:r>
              <a:t>Cyclical sin/cos month encodings prevent the 18.4% underprediction error observed in models lacking seasonal context during winter smog inversions.</a:t>
            </a:r>
          </a:p>
        </p:txBody>
      </p:sp>
      <p:pic>
        <p:nvPicPr>
          <p:cNvPr id="6" name="Picture 5" descr="failure_mode_noise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19284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CAPSTONE PROJECT — FIRST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 Plan for Phase II &amp; Anticipated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21C3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06B6D4"/>
                </a:solidFill>
              </a:defRPr>
            </a:pPr>
            <a:r>
              <a:t>Phase II Implementation Milestones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M1 (Sept 2026): Physical IoT Node Assembly</a:t>
            </a:r>
          </a:p>
          <a:p>
            <a:pPr>
              <a:spcAft>
                <a:spcPts val="400"/>
              </a:spcAft>
              <a:defRPr sz="950">
                <a:solidFill>
                  <a:srgbClr val="9CA3AF"/>
                </a:solidFill>
              </a:defRPr>
            </a:pPr>
            <a:r>
              <a:t>   ESP32 microcontrollers with Sensirion SPS30 &amp; BME280.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M2 (Oct 2026): Edge-AI Optimization</a:t>
            </a:r>
          </a:p>
          <a:p>
            <a:pPr>
              <a:spcAft>
                <a:spcPts val="400"/>
              </a:spcAft>
              <a:defRPr sz="950">
                <a:solidFill>
                  <a:srgbClr val="9CA3AF"/>
                </a:solidFill>
              </a:defRPr>
            </a:pPr>
            <a:r>
              <a:t>   ONNX / TensorRT model quantization for low-power edge nodes.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M3 (Nov 2026): Spatio-Temporal GNNs</a:t>
            </a:r>
          </a:p>
          <a:p>
            <a:pPr>
              <a:spcAft>
                <a:spcPts val="400"/>
              </a:spcAft>
              <a:defRPr sz="950">
                <a:solidFill>
                  <a:srgbClr val="9CA3AF"/>
                </a:solidFill>
              </a:defRPr>
            </a:pPr>
            <a:r>
              <a:t>   Graph Neural Networks capturing spatial pollutant dispersion.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M4 (Dec 2026): Alerting Push Gateway</a:t>
            </a:r>
          </a:p>
          <a:p>
            <a:pPr>
              <a:spcAft>
                <a:spcPts val="400"/>
              </a:spcAft>
              <a:defRPr sz="950">
                <a:solidFill>
                  <a:srgbClr val="9CA3AF"/>
                </a:solidFill>
              </a:defRPr>
            </a:pPr>
            <a:r>
              <a:t>   Automated SMS / WebSocket alert broadcasts during severe AQI.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M5-M6 (Jan-Feb 2027): Field Validation</a:t>
            </a:r>
          </a:p>
          <a:p>
            <a:pPr>
              <a:spcAft>
                <a:spcPts val="400"/>
              </a:spcAft>
              <a:defRPr sz="950">
                <a:solidFill>
                  <a:srgbClr val="9CA3AF"/>
                </a:solidFill>
              </a:defRPr>
            </a:pPr>
            <a:r>
              <a:t>   Longitudinal campus validation, final journal publication &amp; defense.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E19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Review 1 Verification Summary &amp; Q&amp;A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✓ Zeroth Review Suggestions: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Fully incorporated (CPCB standards, BiLSTM-Attention, failure mode analysis).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✓ Completed Deliverables: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Codebase in venv, Journal Paper draft in PDF, PPTX presentation, and web platform.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✓ Plagiarism Verification: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Checked with similarity index &lt; 8% (Permissible limit: &lt; 15%).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✓ Ready for Review Panel:</a:t>
            </a:r>
          </a:p>
          <a:p>
            <a:pPr>
              <a:spcAft>
                <a:spcPts val="600"/>
              </a:spcAft>
              <a:defRPr sz="1000">
                <a:solidFill>
                  <a:srgbClr val="E2E8F0"/>
                </a:solidFill>
              </a:defRPr>
            </a:pPr>
            <a:r>
              <a:t>All team members prepared to address technical questions.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06B6D4"/>
                </a:solidFill>
              </a:defRPr>
            </a:pPr>
            <a:r>
              <a:t>THANK YOU! We invite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